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78135" autoAdjust="0"/>
  </p:normalViewPr>
  <p:slideViewPr>
    <p:cSldViewPr snapToGrid="0">
      <p:cViewPr varScale="1">
        <p:scale>
          <a:sx n="65" d="100"/>
          <a:sy n="65" d="100"/>
        </p:scale>
        <p:origin x="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5CEB2-692D-445C-80D8-4C30AD3FA70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FC26F-AC0F-4A38-AE59-7E477E4F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375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• This chart shows how many units were sold for each product.</a:t>
            </a:r>
          </a:p>
          <a:p>
            <a:br>
              <a:rPr lang="en-US" b="1" dirty="0"/>
            </a:br>
            <a:r>
              <a:rPr lang="en-US" b="1" dirty="0"/>
              <a:t>• Helps identify high-demand and low-demand products.</a:t>
            </a:r>
          </a:p>
          <a:p>
            <a:br>
              <a:rPr lang="en-US" b="1" dirty="0"/>
            </a:br>
            <a:r>
              <a:rPr lang="en-US" b="1" dirty="0"/>
              <a:t>• Peaks indicate best-selling products, while dips show underperformers.</a:t>
            </a:r>
          </a:p>
          <a:p>
            <a:br>
              <a:rPr lang="en-US" b="1" dirty="0"/>
            </a:br>
            <a:r>
              <a:rPr lang="en-US" b="1" dirty="0"/>
              <a:t>• Useful for inventory planning  and marketing focus decisions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FC26F-AC0F-4A38-AE59-7E477E4F2C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563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• This visual represents how much each product category contributes to the total profit.</a:t>
            </a:r>
          </a:p>
          <a:p>
            <a:br>
              <a:rPr lang="en-US" b="1" dirty="0"/>
            </a:br>
            <a:r>
              <a:rPr lang="en-US" b="1" dirty="0"/>
              <a:t>• Higher contribution indicates better profit margin or stronger demand.</a:t>
            </a:r>
          </a:p>
          <a:p>
            <a:br>
              <a:rPr lang="en-US" b="1" dirty="0"/>
            </a:br>
            <a:r>
              <a:rPr lang="en-US" b="1" dirty="0"/>
              <a:t>• Use this analysis to prioritize categories in future campaigns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FC26F-AC0F-4A38-AE59-7E477E4F2C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711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• This chart compares the profit margin across different products.</a:t>
            </a:r>
          </a:p>
          <a:p>
            <a:br>
              <a:rPr lang="en-US" b="1" dirty="0"/>
            </a:br>
            <a:r>
              <a:rPr lang="en-US" b="1" dirty="0"/>
              <a:t>• Higher margin = better pricing power or lower cost per unit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FC26F-AC0F-4A38-AE59-7E477E4F2C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214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• This chart shows how much revenue each product generates.</a:t>
            </a:r>
          </a:p>
          <a:p>
            <a:br>
              <a:rPr lang="en-US" b="1" dirty="0"/>
            </a:br>
            <a:r>
              <a:rPr lang="en-US" b="1" dirty="0"/>
              <a:t>• Helps identify the top-selling products driving the company’s revenue.</a:t>
            </a:r>
          </a:p>
          <a:p>
            <a:br>
              <a:rPr lang="en-US" b="1" dirty="0"/>
            </a:br>
            <a:r>
              <a:rPr lang="en-US" b="1" dirty="0"/>
              <a:t>• Focus on top 3 products — they contribute the largest share of total revenue.</a:t>
            </a:r>
          </a:p>
          <a:p>
            <a:br>
              <a:rPr lang="en-US" b="1" dirty="0"/>
            </a:br>
            <a:r>
              <a:rPr lang="en-US" b="1" dirty="0"/>
              <a:t>• Low-performing products may need marketing support or pricing review.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FC26F-AC0F-4A38-AE59-7E477E4F2C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744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324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80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1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61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52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94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63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66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87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0291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884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4586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694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992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330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40A9C-81B5-4F7E-9DBF-7529835D8A14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E8BDDDE-B251-46C7-B9CF-3ADC524F3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4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9302C-1C03-B592-F799-F7E44B3EC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9768" y="398207"/>
            <a:ext cx="7094844" cy="2728452"/>
          </a:xfrm>
        </p:spPr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Tasty Bites Profitability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0718A-CEA6-E3F0-DAEB-A4E339330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3253" y="3731343"/>
            <a:ext cx="4661360" cy="18140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Prepared by: Krishan Yadav</a:t>
            </a:r>
          </a:p>
          <a:p>
            <a:r>
              <a:rPr lang="en-US" b="1" dirty="0">
                <a:solidFill>
                  <a:schemeClr val="tx1"/>
                </a:solidFill>
              </a:rPr>
              <a:t>Junior Data Analyst </a:t>
            </a:r>
          </a:p>
          <a:p>
            <a:r>
              <a:rPr lang="en-US" b="1" dirty="0">
                <a:solidFill>
                  <a:schemeClr val="tx1"/>
                </a:solidFill>
              </a:rPr>
              <a:t> Objective: Improve Profitability &amp; Pricing Strategy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912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5FE0-0330-EB8F-BE41-F2E1BC39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76B97-DE28-599E-2CB1-2C623CAFE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5769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</a:rPr>
              <a:t>• Revenue per Product</a:t>
            </a:r>
          </a:p>
          <a:p>
            <a:pPr marL="0" indent="0">
              <a:buNone/>
            </a:pPr>
            <a:endParaRPr lang="en-US" sz="22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</a:rPr>
              <a:t>• Profit Margin per Product</a:t>
            </a:r>
          </a:p>
          <a:p>
            <a:pPr marL="0" indent="0">
              <a:buNone/>
            </a:pPr>
            <a:endParaRPr lang="en-US" sz="22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</a:rPr>
              <a:t>• Units Sold</a:t>
            </a:r>
          </a:p>
          <a:p>
            <a:pPr marL="0" indent="0">
              <a:buNone/>
            </a:pPr>
            <a:endParaRPr lang="en-US" sz="22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</a:rPr>
              <a:t>• Discount Impact on Profit Margin</a:t>
            </a:r>
          </a:p>
          <a:p>
            <a:pPr marL="0" indent="0">
              <a:buNone/>
            </a:pPr>
            <a:endParaRPr lang="en-US" sz="22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</a:rPr>
              <a:t>• Contribution to Total Profit</a:t>
            </a:r>
          </a:p>
          <a:p>
            <a:pPr marL="0" indent="0">
              <a:buNone/>
            </a:pPr>
            <a:endParaRPr lang="en-US" sz="22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</a:rPr>
              <a:t>• Average Order Value (AOV)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577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F095C-45BF-44C5-7781-39C87E4E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Business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354A-A6F2-E784-59E2-5AB4CD226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• Identify high-profit and low-profit products.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• Analyze the impact of discounts on profitability.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• Recommend pricing and promotion strategies.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• Increase overall profitability without hurting sales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4213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5224-2034-3F2F-ED15-38330C54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Units Sold per Product</a:t>
            </a:r>
            <a:br>
              <a:rPr lang="en-US" dirty="0"/>
            </a:br>
            <a:endParaRPr lang="en-IN" dirty="0"/>
          </a:p>
        </p:txBody>
      </p:sp>
      <p:pic>
        <p:nvPicPr>
          <p:cNvPr id="13" name="Content Placeholder 12" descr="A graph with a line and text&#10;&#10;AI-generated content may be incorrect.">
            <a:extLst>
              <a:ext uri="{FF2B5EF4-FFF2-40B4-BE49-F238E27FC236}">
                <a16:creationId xmlns:a16="http://schemas.microsoft.com/office/drawing/2014/main" id="{39B88BB3-CE18-E938-EEB4-3FB4982AC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168" y="1519084"/>
            <a:ext cx="7462684" cy="4714805"/>
          </a:xfrm>
        </p:spPr>
      </p:pic>
    </p:spTree>
    <p:extLst>
      <p:ext uri="{BB962C8B-B14F-4D97-AF65-F5344CB8AC3E}">
        <p14:creationId xmlns:p14="http://schemas.microsoft.com/office/powerpoint/2010/main" val="48143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0AAA-8AF5-7A72-E02F-F4CE5135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027" y="265472"/>
            <a:ext cx="9454586" cy="76691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Category-Wise Contribution to Total Profit</a:t>
            </a:r>
            <a:br>
              <a:rPr lang="en-GB" dirty="0"/>
            </a:br>
            <a:endParaRPr lang="en-IN" dirty="0"/>
          </a:p>
        </p:txBody>
      </p:sp>
      <p:pic>
        <p:nvPicPr>
          <p:cNvPr id="9" name="Content Placeholder 8" descr="A graph with blue bars and text&#10;&#10;AI-generated content may be incorrect.">
            <a:extLst>
              <a:ext uri="{FF2B5EF4-FFF2-40B4-BE49-F238E27FC236}">
                <a16:creationId xmlns:a16="http://schemas.microsoft.com/office/drawing/2014/main" id="{96419B77-AAA5-065F-AA32-EDB723080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955" y="1253613"/>
            <a:ext cx="7698658" cy="4822722"/>
          </a:xfrm>
        </p:spPr>
      </p:pic>
    </p:spTree>
    <p:extLst>
      <p:ext uri="{BB962C8B-B14F-4D97-AF65-F5344CB8AC3E}">
        <p14:creationId xmlns:p14="http://schemas.microsoft.com/office/powerpoint/2010/main" val="468842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B9B3-5070-F603-BCD6-581B704B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622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Profit Margin per Product</a:t>
            </a:r>
            <a:br>
              <a:rPr lang="en-US" dirty="0"/>
            </a:b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2A4BCFA-AA44-BF4B-7C2F-37329EC99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690" y="1386348"/>
            <a:ext cx="7669162" cy="4498257"/>
          </a:xfrm>
        </p:spPr>
      </p:pic>
    </p:spTree>
    <p:extLst>
      <p:ext uri="{BB962C8B-B14F-4D97-AF65-F5344CB8AC3E}">
        <p14:creationId xmlns:p14="http://schemas.microsoft.com/office/powerpoint/2010/main" val="2529378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5FE9-4BF2-6B1D-1BE7-1DC8EB9F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Product-Wise Revenue Performance</a:t>
            </a:r>
          </a:p>
        </p:txBody>
      </p:sp>
      <p:pic>
        <p:nvPicPr>
          <p:cNvPr id="13" name="Content Placeholder 12" descr="A graph of a bar chart&#10;&#10;AI-generated content may be incorrect.">
            <a:extLst>
              <a:ext uri="{FF2B5EF4-FFF2-40B4-BE49-F238E27FC236}">
                <a16:creationId xmlns:a16="http://schemas.microsoft.com/office/drawing/2014/main" id="{721F5BA2-2FF7-2960-2E0E-ACF0FFE6D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1" y="1519084"/>
            <a:ext cx="7978876" cy="4714806"/>
          </a:xfrm>
        </p:spPr>
      </p:pic>
    </p:spTree>
    <p:extLst>
      <p:ext uri="{BB962C8B-B14F-4D97-AF65-F5344CB8AC3E}">
        <p14:creationId xmlns:p14="http://schemas.microsoft.com/office/powerpoint/2010/main" val="190817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F064-4DDF-2A49-D367-5973AAC5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Key Insights from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1CA33-8D68-8154-8F15-511C5F0CA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• Top-selling categories include Pasta and </a:t>
            </a:r>
            <a:r>
              <a:rPr lang="en-US" b="1" dirty="0" err="1"/>
              <a:t>wrab</a:t>
            </a:r>
            <a:r>
              <a:rPr lang="en-US" b="1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• High discount rates (&gt;15%) reduce profit margins significantly.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• Juice drive high volume but moderate profit margins.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• NEW customers have higher average order values.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Beverage category contributes most to total profit.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505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BC34-560A-FA44-4353-FC434B66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8A203-C10F-EA2D-DD5B-E02ACEB34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Quick Wins:</a:t>
            </a:r>
          </a:p>
          <a:p>
            <a:pPr marL="0" indent="0">
              <a:buNone/>
            </a:pPr>
            <a:r>
              <a:rPr lang="en-US" b="1" dirty="0"/>
              <a:t>• Reduce discounts on top-selling items.</a:t>
            </a:r>
          </a:p>
          <a:p>
            <a:pPr marL="0" indent="0">
              <a:buNone/>
            </a:pPr>
            <a:r>
              <a:rPr lang="en-US" b="1" dirty="0"/>
              <a:t>• Bundle low-performing items with popular ones.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Long-Term Strategies:</a:t>
            </a:r>
          </a:p>
          <a:p>
            <a:pPr marL="0" indent="0">
              <a:buNone/>
            </a:pPr>
            <a:r>
              <a:rPr lang="en-US" b="1" dirty="0"/>
              <a:t>• Implement dynamic pricing based on demand.</a:t>
            </a:r>
          </a:p>
          <a:p>
            <a:pPr marL="0" indent="0">
              <a:buNone/>
            </a:pPr>
            <a:r>
              <a:rPr lang="en-US" b="1" dirty="0"/>
              <a:t>• Use loyalty programs to retain high-value customers.</a:t>
            </a:r>
          </a:p>
          <a:p>
            <a:pPr marL="0" indent="0">
              <a:buNone/>
            </a:pPr>
            <a:r>
              <a:rPr lang="en-US" b="1" dirty="0"/>
              <a:t>• Analyze product costs quarterly to optimize margins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32431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139</TotalTime>
  <Words>370</Words>
  <Application>Microsoft Office PowerPoint</Application>
  <PresentationFormat>Widescreen</PresentationFormat>
  <Paragraphs>67</Paragraphs>
  <Slides>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Wisp</vt:lpstr>
      <vt:lpstr>Tasty Bites Profitability Analysis</vt:lpstr>
      <vt:lpstr>Key Performance Indicators (KPIs)</vt:lpstr>
      <vt:lpstr>Business Objectives</vt:lpstr>
      <vt:lpstr>Units Sold per Product </vt:lpstr>
      <vt:lpstr>Category-Wise Contribution to Total Profit </vt:lpstr>
      <vt:lpstr>Profit Margin per Product </vt:lpstr>
      <vt:lpstr>Product-Wise Revenue Performance</vt:lpstr>
      <vt:lpstr>Key Insights from Data</vt:lpstr>
      <vt:lpstr>Recommendations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krishan yadav</dc:creator>
  <cp:lastModifiedBy>krishan yadav</cp:lastModifiedBy>
  <cp:revision>4</cp:revision>
  <dcterms:created xsi:type="dcterms:W3CDTF">2025-11-12T11:00:14Z</dcterms:created>
  <dcterms:modified xsi:type="dcterms:W3CDTF">2025-11-12T13:45:24Z</dcterms:modified>
</cp:coreProperties>
</file>